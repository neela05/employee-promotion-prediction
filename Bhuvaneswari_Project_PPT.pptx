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86" r:id="rId4"/>
    <p:sldId id="276" r:id="rId5"/>
    <p:sldId id="288" r:id="rId6"/>
    <p:sldId id="277" r:id="rId7"/>
    <p:sldId id="278" r:id="rId8"/>
    <p:sldId id="292" r:id="rId9"/>
    <p:sldId id="279" r:id="rId10"/>
    <p:sldId id="280" r:id="rId11"/>
    <p:sldId id="282" r:id="rId12"/>
    <p:sldId id="293" r:id="rId13"/>
    <p:sldId id="291" r:id="rId14"/>
    <p:sldId id="290" r:id="rId15"/>
    <p:sldId id="289" r:id="rId16"/>
    <p:sldId id="295" r:id="rId17"/>
    <p:sldId id="294" r:id="rId18"/>
    <p:sldId id="275" r:id="rId19"/>
  </p:sldIdLst>
  <p:sldSz cx="5854700" cy="3295650"/>
  <p:notesSz cx="5854700" cy="32956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0"/>
  </p:normalViewPr>
  <p:slideViewPr>
    <p:cSldViewPr>
      <p:cViewPr varScale="1">
        <p:scale>
          <a:sx n="125" d="100"/>
          <a:sy n="125" d="100"/>
        </p:scale>
        <p:origin x="872" y="7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536825" cy="1651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316288" y="0"/>
            <a:ext cx="2536825" cy="165100"/>
          </a:xfrm>
          <a:prstGeom prst="rect">
            <a:avLst/>
          </a:prstGeom>
        </p:spPr>
        <p:txBody>
          <a:bodyPr vert="horz" lIns="91440" tIns="45720" rIns="91440" bIns="45720" rtlCol="0"/>
          <a:lstStyle>
            <a:lvl1pPr algn="r">
              <a:defRPr sz="1200"/>
            </a:lvl1pPr>
          </a:lstStyle>
          <a:p>
            <a:fld id="{B11665F9-8F4A-7244-B4DC-C07BF306F195}" type="datetimeFigureOut">
              <a:rPr lang="en-US" smtClean="0"/>
              <a:t>12/19/2023</a:t>
            </a:fld>
            <a:endParaRPr lang="en-US"/>
          </a:p>
        </p:txBody>
      </p:sp>
      <p:sp>
        <p:nvSpPr>
          <p:cNvPr id="4" name="Slide Image Placeholder 3"/>
          <p:cNvSpPr>
            <a:spLocks noGrp="1" noRot="1" noChangeAspect="1"/>
          </p:cNvSpPr>
          <p:nvPr>
            <p:ph type="sldImg" idx="2"/>
          </p:nvPr>
        </p:nvSpPr>
        <p:spPr>
          <a:xfrm>
            <a:off x="1939925" y="412750"/>
            <a:ext cx="1974850" cy="11112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85788" y="1585913"/>
            <a:ext cx="4683125" cy="1298575"/>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3130550"/>
            <a:ext cx="2536825" cy="1651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316288" y="3130550"/>
            <a:ext cx="2536825" cy="165100"/>
          </a:xfrm>
          <a:prstGeom prst="rect">
            <a:avLst/>
          </a:prstGeom>
        </p:spPr>
        <p:txBody>
          <a:bodyPr vert="horz" lIns="91440" tIns="45720" rIns="91440" bIns="45720" rtlCol="0" anchor="b"/>
          <a:lstStyle>
            <a:lvl1pPr algn="r">
              <a:defRPr sz="1200"/>
            </a:lvl1pPr>
          </a:lstStyle>
          <a:p>
            <a:fld id="{6EF9044A-283E-824F-9E1B-BB7A0548FEA2}" type="slidenum">
              <a:rPr lang="en-US" smtClean="0"/>
              <a:t>‹#›</a:t>
            </a:fld>
            <a:endParaRPr lang="en-US"/>
          </a:p>
        </p:txBody>
      </p:sp>
    </p:spTree>
    <p:extLst>
      <p:ext uri="{BB962C8B-B14F-4D97-AF65-F5344CB8AC3E}">
        <p14:creationId xmlns:p14="http://schemas.microsoft.com/office/powerpoint/2010/main" val="894013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39102" y="1021651"/>
            <a:ext cx="4976495" cy="692086"/>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878205" y="1845564"/>
            <a:ext cx="4098290" cy="823912"/>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12/19/2023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300" b="1"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12/19/2023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300" b="1" i="0">
                <a:solidFill>
                  <a:schemeClr val="tx1"/>
                </a:solidFill>
                <a:latin typeface="Trebuchet MS"/>
                <a:cs typeface="Trebuchet MS"/>
              </a:defRPr>
            </a:lvl1pPr>
          </a:lstStyle>
          <a:p>
            <a:endParaRPr/>
          </a:p>
        </p:txBody>
      </p:sp>
      <p:sp>
        <p:nvSpPr>
          <p:cNvPr id="3" name="Holder 3"/>
          <p:cNvSpPr>
            <a:spLocks noGrp="1"/>
          </p:cNvSpPr>
          <p:nvPr>
            <p:ph sz="half" idx="2"/>
          </p:nvPr>
        </p:nvSpPr>
        <p:spPr>
          <a:xfrm>
            <a:off x="292735" y="757999"/>
            <a:ext cx="2546794" cy="217512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015170" y="757999"/>
            <a:ext cx="2546794" cy="217512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12/19/2023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512" y="8"/>
            <a:ext cx="2924175" cy="3288029"/>
          </a:xfrm>
          <a:custGeom>
            <a:avLst/>
            <a:gdLst/>
            <a:ahLst/>
            <a:cxnLst/>
            <a:rect l="l" t="t" r="r" b="b"/>
            <a:pathLst>
              <a:path w="2924175" h="3288029">
                <a:moveTo>
                  <a:pt x="2923757" y="0"/>
                </a:moveTo>
                <a:lnTo>
                  <a:pt x="0" y="0"/>
                </a:lnTo>
                <a:lnTo>
                  <a:pt x="0" y="3287938"/>
                </a:lnTo>
                <a:lnTo>
                  <a:pt x="2923757" y="3287938"/>
                </a:lnTo>
                <a:lnTo>
                  <a:pt x="2923757" y="0"/>
                </a:lnTo>
                <a:close/>
              </a:path>
            </a:pathLst>
          </a:custGeom>
          <a:solidFill>
            <a:srgbClr val="000000"/>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300" b="1"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12/19/2023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494751" y="8"/>
            <a:ext cx="3352165" cy="3288029"/>
          </a:xfrm>
          <a:custGeom>
            <a:avLst/>
            <a:gdLst/>
            <a:ahLst/>
            <a:cxnLst/>
            <a:rect l="l" t="t" r="r" b="b"/>
            <a:pathLst>
              <a:path w="3352165" h="3288029">
                <a:moveTo>
                  <a:pt x="3352159" y="0"/>
                </a:moveTo>
                <a:lnTo>
                  <a:pt x="0" y="0"/>
                </a:lnTo>
                <a:lnTo>
                  <a:pt x="0" y="3287938"/>
                </a:lnTo>
                <a:lnTo>
                  <a:pt x="3352159" y="3287938"/>
                </a:lnTo>
                <a:lnTo>
                  <a:pt x="3352159" y="0"/>
                </a:lnTo>
                <a:close/>
              </a:path>
            </a:pathLst>
          </a:custGeom>
          <a:solidFill>
            <a:srgbClr val="000000"/>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12/19/2023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52525" y="610989"/>
            <a:ext cx="1666875" cy="427355"/>
          </a:xfrm>
          <a:prstGeom prst="rect">
            <a:avLst/>
          </a:prstGeom>
        </p:spPr>
        <p:txBody>
          <a:bodyPr wrap="square" lIns="0" tIns="0" rIns="0" bIns="0">
            <a:spAutoFit/>
          </a:bodyPr>
          <a:lstStyle>
            <a:lvl1pPr>
              <a:defRPr sz="1300" b="1"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422733" y="1045426"/>
            <a:ext cx="5009232" cy="869314"/>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1990598" y="3064954"/>
            <a:ext cx="1873504" cy="16478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92735" y="3064954"/>
            <a:ext cx="1346581" cy="16478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12/19/2023</a:t>
            </a:fld>
            <a:endParaRPr lang="en-US"/>
          </a:p>
        </p:txBody>
      </p:sp>
      <p:sp>
        <p:nvSpPr>
          <p:cNvPr id="6" name="Holder 6"/>
          <p:cNvSpPr>
            <a:spLocks noGrp="1"/>
          </p:cNvSpPr>
          <p:nvPr>
            <p:ph type="sldNum" sz="quarter" idx="7"/>
          </p:nvPr>
        </p:nvSpPr>
        <p:spPr>
          <a:xfrm>
            <a:off x="4215384" y="3064954"/>
            <a:ext cx="1346581" cy="16478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731" y="0"/>
            <a:ext cx="5853237" cy="32956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Picture 6" descr="A hand placing a block on a stack of wooden blocks&#10;&#10;Description automatically generated">
            <a:extLst>
              <a:ext uri="{FF2B5EF4-FFF2-40B4-BE49-F238E27FC236}">
                <a16:creationId xmlns:a16="http://schemas.microsoft.com/office/drawing/2014/main" id="{22566411-A391-42DA-ABA0-130E13EFEF7B}"/>
              </a:ext>
            </a:extLst>
          </p:cNvPr>
          <p:cNvPicPr>
            <a:picLocks noChangeAspect="1"/>
          </p:cNvPicPr>
          <p:nvPr/>
        </p:nvPicPr>
        <p:blipFill rotWithShape="1">
          <a:blip r:embed="rId2">
            <a:extLst>
              <a:ext uri="{28A0092B-C50C-407E-A947-70E740481C1C}">
                <a14:useLocalDpi xmlns:a14="http://schemas.microsoft.com/office/drawing/2010/main" val="0"/>
              </a:ext>
            </a:extLst>
          </a:blip>
          <a:srcRect r="2" b="6201"/>
          <a:stretch/>
        </p:blipFill>
        <p:spPr>
          <a:xfrm>
            <a:off x="20" y="616"/>
            <a:ext cx="5854680" cy="3295034"/>
          </a:xfrm>
          <a:prstGeom prst="rect">
            <a:avLst/>
          </a:prstGeom>
        </p:spPr>
      </p:pic>
      <p:sp>
        <p:nvSpPr>
          <p:cNvPr id="8" name="TextBox 7">
            <a:extLst>
              <a:ext uri="{FF2B5EF4-FFF2-40B4-BE49-F238E27FC236}">
                <a16:creationId xmlns:a16="http://schemas.microsoft.com/office/drawing/2014/main" id="{13A3F4B4-7AFA-092F-4794-F5D54CA4A2F6}"/>
              </a:ext>
            </a:extLst>
          </p:cNvPr>
          <p:cNvSpPr txBox="1"/>
          <p:nvPr/>
        </p:nvSpPr>
        <p:spPr>
          <a:xfrm>
            <a:off x="-44450" y="657225"/>
            <a:ext cx="4114800" cy="830997"/>
          </a:xfrm>
          <a:prstGeom prst="rect">
            <a:avLst/>
          </a:prstGeom>
          <a:noFill/>
        </p:spPr>
        <p:txBody>
          <a:bodyPr wrap="square" rtlCol="0">
            <a:spAutoFit/>
          </a:bodyPr>
          <a:lstStyle/>
          <a:p>
            <a:r>
              <a:rPr lang="en-US" sz="2400" b="1" dirty="0">
                <a:latin typeface="Times New Roman" panose="02020603050405020304" pitchFamily="18" charset="0"/>
                <a:ea typeface="Microsoft GothicNeo" panose="02000300000000000000" pitchFamily="2" charset="-127"/>
                <a:cs typeface="Times New Roman" panose="02020603050405020304" pitchFamily="18" charset="0"/>
              </a:rPr>
              <a:t>EMPLOYEE PROMOTION PREDICTION</a:t>
            </a:r>
          </a:p>
        </p:txBody>
      </p:sp>
      <p:sp>
        <p:nvSpPr>
          <p:cNvPr id="2" name="TextBox 1">
            <a:extLst>
              <a:ext uri="{FF2B5EF4-FFF2-40B4-BE49-F238E27FC236}">
                <a16:creationId xmlns:a16="http://schemas.microsoft.com/office/drawing/2014/main" id="{C5986C88-874F-4BD7-BDDA-06104B43EA78}"/>
              </a:ext>
            </a:extLst>
          </p:cNvPr>
          <p:cNvSpPr txBox="1"/>
          <p:nvPr/>
        </p:nvSpPr>
        <p:spPr>
          <a:xfrm>
            <a:off x="107950" y="2255758"/>
            <a:ext cx="2179319" cy="369332"/>
          </a:xfrm>
          <a:prstGeom prst="rect">
            <a:avLst/>
          </a:prstGeom>
          <a:noFill/>
        </p:spPr>
        <p:txBody>
          <a:bodyPr wrap="square" rtlCol="0">
            <a:spAutoFit/>
          </a:bodyPr>
          <a:lstStyle/>
          <a:p>
            <a:r>
              <a:rPr lang="en-US" dirty="0"/>
              <a:t>Bhuvaneswari Neela</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327150" y="180939"/>
            <a:ext cx="2764790" cy="364843"/>
          </a:xfrm>
          <a:prstGeom prst="rect">
            <a:avLst/>
          </a:prstGeom>
          <a:solidFill>
            <a:srgbClr val="000000"/>
          </a:solidFill>
        </p:spPr>
        <p:txBody>
          <a:bodyPr vert="horz" wrap="square" lIns="0" tIns="79375" rIns="0" bIns="0" rtlCol="0">
            <a:spAutoFit/>
          </a:bodyPr>
          <a:lstStyle/>
          <a:p>
            <a:pPr marL="675005">
              <a:lnSpc>
                <a:spcPct val="100000"/>
              </a:lnSpc>
              <a:spcBef>
                <a:spcPts val="625"/>
              </a:spcBef>
            </a:pPr>
            <a:r>
              <a:rPr lang="en-US" sz="1850" spc="10" dirty="0">
                <a:solidFill>
                  <a:srgbClr val="FFFFFF"/>
                </a:solidFill>
                <a:latin typeface="Cambria"/>
                <a:cs typeface="Cambria"/>
              </a:rPr>
              <a:t>A</a:t>
            </a:r>
            <a:r>
              <a:rPr lang="en-IN" sz="1850" spc="10" dirty="0" err="1">
                <a:solidFill>
                  <a:srgbClr val="FFFFFF"/>
                </a:solidFill>
                <a:latin typeface="Cambria"/>
                <a:cs typeface="Cambria"/>
              </a:rPr>
              <a:t>bstract</a:t>
            </a:r>
            <a:endParaRPr lang="en-IN" sz="1850" dirty="0">
              <a:latin typeface="Cambria"/>
              <a:cs typeface="Cambria"/>
            </a:endParaRPr>
          </a:p>
        </p:txBody>
      </p:sp>
      <p:sp>
        <p:nvSpPr>
          <p:cNvPr id="6" name="object 6"/>
          <p:cNvSpPr txBox="1"/>
          <p:nvPr/>
        </p:nvSpPr>
        <p:spPr>
          <a:xfrm>
            <a:off x="184150" y="733425"/>
            <a:ext cx="3581400" cy="2781531"/>
          </a:xfrm>
          <a:prstGeom prst="rect">
            <a:avLst/>
          </a:prstGeom>
        </p:spPr>
        <p:txBody>
          <a:bodyPr vert="horz" wrap="square" lIns="0" tIns="11430" rIns="0" bIns="0" rtlCol="0">
            <a:spAutoFit/>
          </a:bodyPr>
          <a:lstStyle/>
          <a:p>
            <a:pPr marL="171450" indent="-171450">
              <a:lnSpc>
                <a:spcPct val="150000"/>
              </a:lnSpc>
              <a:buFont typeface="Wingdings" pitchFamily="2" charset="2"/>
              <a:buChar char="Ø"/>
            </a:pPr>
            <a:r>
              <a:rPr lang="en-IN" sz="800" b="0" i="0" dirty="0">
                <a:effectLst/>
                <a:latin typeface="Times New Roman" panose="02020603050405020304" pitchFamily="18" charset="0"/>
                <a:cs typeface="Times New Roman" panose="02020603050405020304" pitchFamily="18" charset="0"/>
              </a:rPr>
              <a:t>Finding and preparing qualified individuals for promotion, particularly at the manager level and below, is a problem that the majority of organisations and huge multinational corporations are facing. Currently the process they are using is:</a:t>
            </a:r>
          </a:p>
          <a:p>
            <a:pPr marL="171450" indent="-171450">
              <a:lnSpc>
                <a:spcPct val="150000"/>
              </a:lnSpc>
              <a:buFont typeface="Wingdings" pitchFamily="2" charset="2"/>
              <a:buChar char="Ø"/>
            </a:pPr>
            <a:endParaRPr lang="en-IN" sz="800" b="0" i="0" dirty="0">
              <a:effectLst/>
              <a:latin typeface="Times New Roman" panose="02020603050405020304" pitchFamily="18" charset="0"/>
              <a:cs typeface="Times New Roman" panose="02020603050405020304" pitchFamily="18" charset="0"/>
            </a:endParaRPr>
          </a:p>
          <a:p>
            <a:pPr marL="171450" indent="-171450">
              <a:lnSpc>
                <a:spcPct val="150000"/>
              </a:lnSpc>
              <a:buFont typeface="Wingdings" pitchFamily="2" charset="2"/>
              <a:buChar char="Ø"/>
            </a:pPr>
            <a:r>
              <a:rPr lang="en-IN" sz="800" b="0" i="0" dirty="0">
                <a:effectLst/>
                <a:latin typeface="Times New Roman" panose="02020603050405020304" pitchFamily="18" charset="0"/>
                <a:cs typeface="Times New Roman" panose="02020603050405020304" pitchFamily="18" charset="0"/>
              </a:rPr>
              <a:t>They first identify a set of employees based on recommendations/ past performance. </a:t>
            </a:r>
          </a:p>
          <a:p>
            <a:pPr marL="171450" indent="-171450">
              <a:lnSpc>
                <a:spcPct val="150000"/>
              </a:lnSpc>
              <a:buFont typeface="Wingdings" pitchFamily="2" charset="2"/>
              <a:buChar char="Ø"/>
            </a:pPr>
            <a:endParaRPr lang="en-IN" sz="800" dirty="0">
              <a:latin typeface="Times New Roman" panose="02020603050405020304" pitchFamily="18" charset="0"/>
              <a:cs typeface="Times New Roman" panose="02020603050405020304" pitchFamily="18" charset="0"/>
            </a:endParaRPr>
          </a:p>
          <a:p>
            <a:pPr marL="171450" indent="-171450">
              <a:lnSpc>
                <a:spcPct val="150000"/>
              </a:lnSpc>
              <a:buFont typeface="Wingdings" pitchFamily="2" charset="2"/>
              <a:buChar char="Ø"/>
            </a:pPr>
            <a:r>
              <a:rPr lang="en-IN" sz="800" b="0" i="0" dirty="0">
                <a:effectLst/>
                <a:latin typeface="Times New Roman" panose="02020603050405020304" pitchFamily="18" charset="0"/>
                <a:cs typeface="Times New Roman" panose="02020603050405020304" pitchFamily="18" charset="0"/>
              </a:rPr>
              <a:t>Selected employees go through the separate training and evaluation program.</a:t>
            </a:r>
          </a:p>
          <a:p>
            <a:pPr marL="171450" indent="-171450">
              <a:lnSpc>
                <a:spcPct val="150000"/>
              </a:lnSpc>
              <a:buFont typeface="Wingdings" pitchFamily="2" charset="2"/>
              <a:buChar char="Ø"/>
            </a:pPr>
            <a:endParaRPr lang="en-IN" sz="800" b="0" i="0" dirty="0">
              <a:effectLst/>
              <a:latin typeface="Times New Roman" panose="02020603050405020304" pitchFamily="18" charset="0"/>
              <a:cs typeface="Times New Roman" panose="02020603050405020304" pitchFamily="18" charset="0"/>
            </a:endParaRPr>
          </a:p>
          <a:p>
            <a:pPr marL="171450" indent="-171450">
              <a:lnSpc>
                <a:spcPct val="150000"/>
              </a:lnSpc>
              <a:buFont typeface="Wingdings" pitchFamily="2" charset="2"/>
              <a:buChar char="Ø"/>
            </a:pPr>
            <a:r>
              <a:rPr lang="en-IN" sz="800" b="0" i="0" dirty="0">
                <a:effectLst/>
                <a:latin typeface="Times New Roman" panose="02020603050405020304" pitchFamily="18" charset="0"/>
                <a:cs typeface="Times New Roman" panose="02020603050405020304" pitchFamily="18" charset="0"/>
              </a:rPr>
              <a:t>These programs are based on the required skill of each individual.</a:t>
            </a:r>
          </a:p>
          <a:p>
            <a:pPr marL="171450" indent="-171450">
              <a:lnSpc>
                <a:spcPct val="150000"/>
              </a:lnSpc>
              <a:buFont typeface="Wingdings" pitchFamily="2" charset="2"/>
              <a:buChar char="Ø"/>
            </a:pPr>
            <a:endParaRPr lang="en-IN" sz="800" b="0" i="0" dirty="0">
              <a:effectLst/>
              <a:latin typeface="Times New Roman" panose="02020603050405020304" pitchFamily="18" charset="0"/>
              <a:cs typeface="Times New Roman" panose="02020603050405020304" pitchFamily="18" charset="0"/>
            </a:endParaRPr>
          </a:p>
          <a:p>
            <a:pPr marL="171450" indent="-171450">
              <a:lnSpc>
                <a:spcPct val="150000"/>
              </a:lnSpc>
              <a:buFont typeface="Wingdings" pitchFamily="2" charset="2"/>
              <a:buChar char="Ø"/>
            </a:pPr>
            <a:r>
              <a:rPr lang="en-IN" sz="800" b="0" i="0" dirty="0">
                <a:effectLst/>
                <a:latin typeface="Times New Roman" panose="02020603050405020304" pitchFamily="18" charset="0"/>
                <a:cs typeface="Times New Roman" panose="02020603050405020304" pitchFamily="18" charset="0"/>
              </a:rPr>
              <a:t>At the end of the </a:t>
            </a:r>
            <a:r>
              <a:rPr lang="en-IN" sz="800" dirty="0">
                <a:latin typeface="Times New Roman" panose="02020603050405020304" pitchFamily="18" charset="0"/>
                <a:cs typeface="Times New Roman" panose="02020603050405020304" pitchFamily="18" charset="0"/>
              </a:rPr>
              <a:t>project</a:t>
            </a:r>
            <a:r>
              <a:rPr lang="en-IN" sz="800" b="0" i="0" dirty="0">
                <a:effectLst/>
                <a:latin typeface="Times New Roman" panose="02020603050405020304" pitchFamily="18" charset="0"/>
                <a:cs typeface="Times New Roman" panose="02020603050405020304" pitchFamily="18" charset="0"/>
              </a:rPr>
              <a:t>, based on various factors such as training &amp; performance, will predict whether employee would get a promotion or not</a:t>
            </a:r>
          </a:p>
          <a:p>
            <a:br>
              <a:rPr lang="en-IN" sz="800" dirty="0"/>
            </a:br>
            <a:br>
              <a:rPr lang="en-IN" sz="800" dirty="0"/>
            </a:br>
            <a:endParaRPr lang="en-IN" sz="800" dirty="0">
              <a:latin typeface="Verdana"/>
              <a:cs typeface="Verdana"/>
            </a:endParaRPr>
          </a:p>
        </p:txBody>
      </p:sp>
      <p:pic>
        <p:nvPicPr>
          <p:cNvPr id="13" name="Picture 12" descr="A hand holding a person's hand&#10;&#10;Description automatically generated">
            <a:extLst>
              <a:ext uri="{FF2B5EF4-FFF2-40B4-BE49-F238E27FC236}">
                <a16:creationId xmlns:a16="http://schemas.microsoft.com/office/drawing/2014/main" id="{4D8A8F4F-EBD8-AE88-AC4E-F4411E38B3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65550" y="608330"/>
            <a:ext cx="2050147" cy="227494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9EFB78-B464-FA59-9590-E47AF296AA93}"/>
              </a:ext>
            </a:extLst>
          </p:cNvPr>
          <p:cNvSpPr txBox="1"/>
          <p:nvPr/>
        </p:nvSpPr>
        <p:spPr>
          <a:xfrm>
            <a:off x="336550" y="657225"/>
            <a:ext cx="4543081" cy="2092881"/>
          </a:xfrm>
          <a:prstGeom prst="rect">
            <a:avLst/>
          </a:prstGeom>
          <a:noFill/>
        </p:spPr>
        <p:txBody>
          <a:bodyPr wrap="square" rtlCol="0">
            <a:spAutoFit/>
          </a:bodyPr>
          <a:lstStyle/>
          <a:p>
            <a:pPr marL="285750" indent="-285750" algn="l">
              <a:buFont typeface="Wingdings" pitchFamily="2" charset="2"/>
              <a:buChar char="Ø"/>
            </a:pPr>
            <a:r>
              <a:rPr lang="en-IN" sz="1400" b="0" i="0" dirty="0">
                <a:effectLst/>
                <a:latin typeface="Times New Roman" panose="02020603050405020304" pitchFamily="18" charset="0"/>
                <a:cs typeface="Times New Roman" panose="02020603050405020304" pitchFamily="18" charset="0"/>
              </a:rPr>
              <a:t>We Imported </a:t>
            </a:r>
            <a:r>
              <a:rPr lang="en-IN" sz="1400" b="0" i="0" dirty="0" err="1">
                <a:effectLst/>
                <a:latin typeface="Times New Roman" panose="02020603050405020304" pitchFamily="18" charset="0"/>
                <a:cs typeface="Times New Roman" panose="02020603050405020304" pitchFamily="18" charset="0"/>
              </a:rPr>
              <a:t>Numpy</a:t>
            </a:r>
            <a:r>
              <a:rPr lang="en-IN" sz="1400" b="0" i="0" dirty="0">
                <a:effectLst/>
                <a:latin typeface="Times New Roman" panose="02020603050405020304" pitchFamily="18" charset="0"/>
                <a:cs typeface="Times New Roman" panose="02020603050405020304" pitchFamily="18" charset="0"/>
              </a:rPr>
              <a:t>, Pandas, </a:t>
            </a:r>
            <a:r>
              <a:rPr lang="en-IN" sz="1400" b="0" i="0" dirty="0" err="1">
                <a:effectLst/>
                <a:latin typeface="Times New Roman" panose="02020603050405020304" pitchFamily="18" charset="0"/>
                <a:cs typeface="Times New Roman" panose="02020603050405020304" pitchFamily="18" charset="0"/>
              </a:rPr>
              <a:t>Matplot</a:t>
            </a:r>
            <a:r>
              <a:rPr lang="en-IN" sz="1400" b="0" i="0" dirty="0">
                <a:effectLst/>
                <a:latin typeface="Times New Roman" panose="02020603050405020304" pitchFamily="18" charset="0"/>
                <a:cs typeface="Times New Roman" panose="02020603050405020304" pitchFamily="18" charset="0"/>
              </a:rPr>
              <a:t>, and Seaborn for Data Analysis and Visualizations.</a:t>
            </a:r>
          </a:p>
          <a:p>
            <a:pPr marL="285750" indent="-285750" algn="l">
              <a:buFont typeface="Wingdings" pitchFamily="2" charset="2"/>
              <a:buChar char="Ø"/>
            </a:pPr>
            <a:endParaRPr lang="en-IN" sz="1400" dirty="0">
              <a:latin typeface="Times New Roman" panose="02020603050405020304" pitchFamily="18" charset="0"/>
              <a:cs typeface="Times New Roman" panose="02020603050405020304" pitchFamily="18" charset="0"/>
            </a:endParaRPr>
          </a:p>
          <a:p>
            <a:pPr marL="285750" indent="-285750" algn="l">
              <a:buFont typeface="Wingdings" pitchFamily="2" charset="2"/>
              <a:buChar char="Ø"/>
            </a:pPr>
            <a:r>
              <a:rPr lang="en-IN" sz="1400" b="0" i="0" dirty="0">
                <a:effectLst/>
                <a:latin typeface="Times New Roman" panose="02020603050405020304" pitchFamily="18" charset="0"/>
                <a:cs typeface="Times New Roman" panose="02020603050405020304" pitchFamily="18" charset="0"/>
              </a:rPr>
              <a:t>We imported </a:t>
            </a:r>
            <a:r>
              <a:rPr lang="en-IN" sz="1400" b="0" i="0" dirty="0" err="1">
                <a:effectLst/>
                <a:latin typeface="Times New Roman" panose="02020603050405020304" pitchFamily="18" charset="0"/>
                <a:cs typeface="Times New Roman" panose="02020603050405020304" pitchFamily="18" charset="0"/>
              </a:rPr>
              <a:t>ipywidgets</a:t>
            </a:r>
            <a:r>
              <a:rPr lang="en-IN" sz="1400" b="0" i="0" dirty="0">
                <a:effectLst/>
                <a:latin typeface="Times New Roman" panose="02020603050405020304" pitchFamily="18" charset="0"/>
                <a:cs typeface="Times New Roman" panose="02020603050405020304" pitchFamily="18" charset="0"/>
              </a:rPr>
              <a:t>, for Exploratory Data Analysis.</a:t>
            </a:r>
          </a:p>
          <a:p>
            <a:pPr marL="285750" indent="-285750" algn="l">
              <a:buFont typeface="Wingdings" pitchFamily="2" charset="2"/>
              <a:buChar char="Ø"/>
            </a:pPr>
            <a:endParaRPr lang="en-IN" sz="1400" b="0" i="0" dirty="0">
              <a:effectLst/>
              <a:latin typeface="Times New Roman" panose="02020603050405020304" pitchFamily="18" charset="0"/>
              <a:cs typeface="Times New Roman" panose="02020603050405020304" pitchFamily="18" charset="0"/>
            </a:endParaRPr>
          </a:p>
          <a:p>
            <a:pPr marL="285750" indent="-285750" algn="l">
              <a:buFont typeface="Wingdings" pitchFamily="2" charset="2"/>
              <a:buChar char="Ø"/>
            </a:pPr>
            <a:r>
              <a:rPr lang="en-IN" sz="1400" b="0" i="0" dirty="0">
                <a:effectLst/>
                <a:latin typeface="Times New Roman" panose="02020603050405020304" pitchFamily="18" charset="0"/>
                <a:cs typeface="Times New Roman" panose="02020603050405020304" pitchFamily="18" charset="0"/>
              </a:rPr>
              <a:t>We Imported </a:t>
            </a:r>
            <a:r>
              <a:rPr lang="en-IN" sz="1400" b="0" i="0" dirty="0" err="1">
                <a:effectLst/>
                <a:latin typeface="Times New Roman" panose="02020603050405020304" pitchFamily="18" charset="0"/>
                <a:cs typeface="Times New Roman" panose="02020603050405020304" pitchFamily="18" charset="0"/>
              </a:rPr>
              <a:t>Sklearn</a:t>
            </a:r>
            <a:r>
              <a:rPr lang="en-IN" sz="1400" b="0" i="0" dirty="0">
                <a:effectLst/>
                <a:latin typeface="Times New Roman" panose="02020603050405020304" pitchFamily="18" charset="0"/>
                <a:cs typeface="Times New Roman" panose="02020603050405020304" pitchFamily="18" charset="0"/>
              </a:rPr>
              <a:t> for Machine Learning Modelling</a:t>
            </a:r>
          </a:p>
          <a:p>
            <a:pPr algn="l"/>
            <a:endParaRPr lang="en-IN" sz="1400" b="0" i="0" dirty="0">
              <a:effectLst/>
              <a:latin typeface="Times New Roman" panose="02020603050405020304" pitchFamily="18" charset="0"/>
              <a:cs typeface="Times New Roman" panose="02020603050405020304" pitchFamily="18" charset="0"/>
            </a:endParaRPr>
          </a:p>
          <a:p>
            <a:pPr marL="285750" indent="-285750" algn="l">
              <a:buFont typeface="Wingdings" pitchFamily="2" charset="2"/>
              <a:buChar char="Ø"/>
            </a:pPr>
            <a:r>
              <a:rPr lang="en-IN" sz="1400" b="0" i="0" dirty="0">
                <a:effectLst/>
                <a:latin typeface="Times New Roman" panose="02020603050405020304" pitchFamily="18" charset="0"/>
                <a:cs typeface="Times New Roman" panose="02020603050405020304" pitchFamily="18" charset="0"/>
              </a:rPr>
              <a:t>Used Decision Tree algorithm</a:t>
            </a:r>
          </a:p>
          <a:p>
            <a:endParaRPr lang="en-US" dirty="0"/>
          </a:p>
        </p:txBody>
      </p:sp>
      <p:sp>
        <p:nvSpPr>
          <p:cNvPr id="6" name="TextBox 5">
            <a:extLst>
              <a:ext uri="{FF2B5EF4-FFF2-40B4-BE49-F238E27FC236}">
                <a16:creationId xmlns:a16="http://schemas.microsoft.com/office/drawing/2014/main" id="{5296CB42-1888-4006-12A7-611B86ECFB4F}"/>
              </a:ext>
            </a:extLst>
          </p:cNvPr>
          <p:cNvSpPr txBox="1"/>
          <p:nvPr/>
        </p:nvSpPr>
        <p:spPr>
          <a:xfrm>
            <a:off x="816740" y="0"/>
            <a:ext cx="4221220" cy="677108"/>
          </a:xfrm>
          <a:prstGeom prst="rect">
            <a:avLst/>
          </a:prstGeom>
          <a:noFill/>
        </p:spPr>
        <p:txBody>
          <a:bodyPr wrap="none" rtlCol="0">
            <a:spAutoFit/>
          </a:bodyPr>
          <a:lstStyle/>
          <a:p>
            <a:r>
              <a:rPr lang="en-IN" sz="2000" b="1" i="0" dirty="0">
                <a:effectLst/>
                <a:latin typeface="Times New Roman" panose="02020603050405020304" pitchFamily="18" charset="0"/>
                <a:cs typeface="Times New Roman" panose="02020603050405020304" pitchFamily="18" charset="0"/>
              </a:rPr>
              <a:t>Importing all the Required Libraries</a:t>
            </a:r>
          </a:p>
          <a:p>
            <a:endParaRPr lang="en-US" dirty="0"/>
          </a:p>
        </p:txBody>
      </p:sp>
    </p:spTree>
    <p:extLst>
      <p:ext uri="{BB962C8B-B14F-4D97-AF65-F5344CB8AC3E}">
        <p14:creationId xmlns:p14="http://schemas.microsoft.com/office/powerpoint/2010/main" val="3955965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table&#10;&#10;Description automatically generated">
            <a:extLst>
              <a:ext uri="{FF2B5EF4-FFF2-40B4-BE49-F238E27FC236}">
                <a16:creationId xmlns:a16="http://schemas.microsoft.com/office/drawing/2014/main" id="{62D37BB3-8CF1-1EA8-2EBB-61068C99866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950" y="2092129"/>
            <a:ext cx="5441950" cy="1188361"/>
          </a:xfrm>
          <a:prstGeom prst="rect">
            <a:avLst/>
          </a:prstGeom>
        </p:spPr>
      </p:pic>
      <p:sp>
        <p:nvSpPr>
          <p:cNvPr id="7" name="TextBox 6">
            <a:extLst>
              <a:ext uri="{FF2B5EF4-FFF2-40B4-BE49-F238E27FC236}">
                <a16:creationId xmlns:a16="http://schemas.microsoft.com/office/drawing/2014/main" id="{26EE4D2C-9006-AC53-B248-5833C5A04A9D}"/>
              </a:ext>
            </a:extLst>
          </p:cNvPr>
          <p:cNvSpPr txBox="1"/>
          <p:nvPr/>
        </p:nvSpPr>
        <p:spPr>
          <a:xfrm>
            <a:off x="1993900" y="-98921"/>
            <a:ext cx="1866900" cy="461665"/>
          </a:xfrm>
          <a:prstGeom prst="rect">
            <a:avLst/>
          </a:prstGeom>
          <a:noFill/>
        </p:spPr>
        <p:txBody>
          <a:bodyPr wrap="square" rtlCol="0">
            <a:spAutoFit/>
          </a:bodyPr>
          <a:lstStyle/>
          <a:p>
            <a:pPr algn="ctr"/>
            <a:r>
              <a:rPr lang="en-US" sz="2400" b="1" u="sng" dirty="0">
                <a:latin typeface="Times New Roman" panose="02020603050405020304" pitchFamily="18" charset="0"/>
                <a:cs typeface="Times New Roman" panose="02020603050405020304" pitchFamily="18" charset="0"/>
              </a:rPr>
              <a:t>DATASETS</a:t>
            </a:r>
          </a:p>
        </p:txBody>
      </p:sp>
      <p:sp>
        <p:nvSpPr>
          <p:cNvPr id="8" name="TextBox 7">
            <a:extLst>
              <a:ext uri="{FF2B5EF4-FFF2-40B4-BE49-F238E27FC236}">
                <a16:creationId xmlns:a16="http://schemas.microsoft.com/office/drawing/2014/main" id="{92C79EF1-1202-ECA7-108C-E94A2AF01819}"/>
              </a:ext>
            </a:extLst>
          </p:cNvPr>
          <p:cNvSpPr txBox="1"/>
          <p:nvPr/>
        </p:nvSpPr>
        <p:spPr>
          <a:xfrm>
            <a:off x="-44450" y="1802167"/>
            <a:ext cx="1355115"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Testing dataset:</a:t>
            </a:r>
          </a:p>
        </p:txBody>
      </p:sp>
      <p:sp>
        <p:nvSpPr>
          <p:cNvPr id="9" name="TextBox 8">
            <a:extLst>
              <a:ext uri="{FF2B5EF4-FFF2-40B4-BE49-F238E27FC236}">
                <a16:creationId xmlns:a16="http://schemas.microsoft.com/office/drawing/2014/main" id="{AE5A56F6-2A38-20D2-57B9-D64594A328D0}"/>
              </a:ext>
            </a:extLst>
          </p:cNvPr>
          <p:cNvSpPr txBox="1"/>
          <p:nvPr/>
        </p:nvSpPr>
        <p:spPr>
          <a:xfrm>
            <a:off x="-31958" y="346069"/>
            <a:ext cx="1390252"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Training dataset:</a:t>
            </a:r>
          </a:p>
        </p:txBody>
      </p:sp>
      <p:pic>
        <p:nvPicPr>
          <p:cNvPr id="11" name="Picture 10" descr="A screenshot of a computer&#10;&#10;Description automatically generated">
            <a:extLst>
              <a:ext uri="{FF2B5EF4-FFF2-40B4-BE49-F238E27FC236}">
                <a16:creationId xmlns:a16="http://schemas.microsoft.com/office/drawing/2014/main" id="{BD55272F-20DF-EECF-5168-D0D6953476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950" y="631621"/>
            <a:ext cx="4572000" cy="1188361"/>
          </a:xfrm>
          <a:prstGeom prst="rect">
            <a:avLst/>
          </a:prstGeom>
        </p:spPr>
      </p:pic>
    </p:spTree>
    <p:extLst>
      <p:ext uri="{BB962C8B-B14F-4D97-AF65-F5344CB8AC3E}">
        <p14:creationId xmlns:p14="http://schemas.microsoft.com/office/powerpoint/2010/main" val="1532935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853236" cy="32956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6A13908-8B1A-7108-D380-078F9F05C6B4}"/>
              </a:ext>
            </a:extLst>
          </p:cNvPr>
          <p:cNvSpPr txBox="1"/>
          <p:nvPr/>
        </p:nvSpPr>
        <p:spPr>
          <a:xfrm>
            <a:off x="260349" y="657225"/>
            <a:ext cx="2706703" cy="1981200"/>
          </a:xfrm>
          <a:prstGeom prst="rect">
            <a:avLst/>
          </a:prstGeom>
        </p:spPr>
        <p:txBody>
          <a:bodyPr vert="horz" lIns="91440" tIns="45720" rIns="91440" bIns="45720" rtlCol="0" anchor="b">
            <a:normAutofit fontScale="92500" lnSpcReduction="20000"/>
          </a:bodyPr>
          <a:lstStyle/>
          <a:p>
            <a:pPr>
              <a:lnSpc>
                <a:spcPct val="90000"/>
              </a:lnSpc>
              <a:spcBef>
                <a:spcPct val="0"/>
              </a:spcBef>
              <a:spcAft>
                <a:spcPts val="600"/>
              </a:spcAft>
            </a:pPr>
            <a:r>
              <a:rPr lang="en-US" sz="2800" b="1" dirty="0">
                <a:latin typeface="+mj-lt"/>
                <a:ea typeface="+mj-ea"/>
                <a:cs typeface="+mj-cs"/>
              </a:rPr>
              <a:t>Graphical Representation of Various Categories</a:t>
            </a:r>
          </a:p>
          <a:p>
            <a:pPr>
              <a:lnSpc>
                <a:spcPct val="90000"/>
              </a:lnSpc>
              <a:spcBef>
                <a:spcPct val="0"/>
              </a:spcBef>
              <a:spcAft>
                <a:spcPts val="600"/>
              </a:spcAft>
            </a:pPr>
            <a:r>
              <a:rPr lang="en-US" sz="2800" b="1" dirty="0">
                <a:latin typeface="+mj-lt"/>
                <a:ea typeface="+mj-ea"/>
                <a:cs typeface="+mj-cs"/>
              </a:rPr>
              <a:t>      &amp;</a:t>
            </a:r>
          </a:p>
          <a:p>
            <a:pPr>
              <a:lnSpc>
                <a:spcPct val="90000"/>
              </a:lnSpc>
              <a:spcBef>
                <a:spcPct val="0"/>
              </a:spcBef>
              <a:spcAft>
                <a:spcPts val="600"/>
              </a:spcAft>
            </a:pPr>
            <a:r>
              <a:rPr lang="en-US" sz="2800" b="1" dirty="0">
                <a:latin typeface="+mj-lt"/>
                <a:ea typeface="+mj-ea"/>
                <a:cs typeface="+mj-cs"/>
              </a:rPr>
              <a:t>Findings</a:t>
            </a:r>
          </a:p>
        </p:txBody>
      </p:sp>
      <p:pic>
        <p:nvPicPr>
          <p:cNvPr id="6" name="Picture 5" descr="A tablet and a computer on a table&#10;&#10;Description automatically generated">
            <a:extLst>
              <a:ext uri="{FF2B5EF4-FFF2-40B4-BE49-F238E27FC236}">
                <a16:creationId xmlns:a16="http://schemas.microsoft.com/office/drawing/2014/main" id="{4FF5ED68-A7A2-A66A-3CE3-9AF91B813327}"/>
              </a:ext>
            </a:extLst>
          </p:cNvPr>
          <p:cNvPicPr>
            <a:picLocks noChangeAspect="1"/>
          </p:cNvPicPr>
          <p:nvPr/>
        </p:nvPicPr>
        <p:blipFill rotWithShape="1">
          <a:blip r:embed="rId2">
            <a:extLst>
              <a:ext uri="{28A0092B-C50C-407E-A947-70E740481C1C}">
                <a14:useLocalDpi xmlns:a14="http://schemas.microsoft.com/office/drawing/2010/main" val="0"/>
              </a:ext>
            </a:extLst>
          </a:blip>
          <a:srcRect t="8924" r="4" b="4"/>
          <a:stretch/>
        </p:blipFill>
        <p:spPr>
          <a:xfrm>
            <a:off x="2967053" y="-18959"/>
            <a:ext cx="2896332" cy="3333567"/>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95355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7C3E2A92-9498-FBFF-E0BF-32D3DEED8BD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8324" t="50000" r="867" b="15318"/>
          <a:stretch/>
        </p:blipFill>
        <p:spPr>
          <a:xfrm>
            <a:off x="412750" y="1401812"/>
            <a:ext cx="5168219" cy="1582109"/>
          </a:xfrm>
          <a:prstGeom prst="rect">
            <a:avLst/>
          </a:prstGeom>
        </p:spPr>
      </p:pic>
      <p:sp>
        <p:nvSpPr>
          <p:cNvPr id="9" name="TextBox 8">
            <a:extLst>
              <a:ext uri="{FF2B5EF4-FFF2-40B4-BE49-F238E27FC236}">
                <a16:creationId xmlns:a16="http://schemas.microsoft.com/office/drawing/2014/main" id="{0FB64CDC-1CC3-35D8-9093-1A2865525441}"/>
              </a:ext>
            </a:extLst>
          </p:cNvPr>
          <p:cNvSpPr txBox="1"/>
          <p:nvPr/>
        </p:nvSpPr>
        <p:spPr>
          <a:xfrm>
            <a:off x="336550" y="266065"/>
            <a:ext cx="3791423" cy="1154162"/>
          </a:xfrm>
          <a:prstGeom prst="rect">
            <a:avLst/>
          </a:prstGeom>
          <a:noFill/>
        </p:spPr>
        <p:txBody>
          <a:bodyPr wrap="none" rtlCol="0">
            <a:spAutoFit/>
          </a:bodyPr>
          <a:lstStyle/>
          <a:p>
            <a:r>
              <a:rPr lang="en-US" sz="1200" dirty="0">
                <a:latin typeface="Times New Roman" panose="02020603050405020304" pitchFamily="18" charset="0"/>
                <a:cs typeface="Times New Roman" panose="02020603050405020304" pitchFamily="18" charset="0"/>
              </a:rPr>
              <a:t>This Pie-chart is about,</a:t>
            </a:r>
          </a:p>
          <a:p>
            <a:endParaRPr lang="en-US" sz="1200" dirty="0">
              <a:latin typeface="Times New Roman" panose="02020603050405020304" pitchFamily="18" charset="0"/>
              <a:cs typeface="Times New Roman" panose="02020603050405020304" pitchFamily="18" charset="0"/>
            </a:endParaRPr>
          </a:p>
          <a:p>
            <a:pPr marL="171450" indent="-171450">
              <a:buFont typeface="Wingdings" pitchFamily="2" charset="2"/>
              <a:buChar char="Ø"/>
            </a:pPr>
            <a:r>
              <a:rPr lang="en-US" sz="1100" dirty="0">
                <a:latin typeface="Times New Roman" panose="02020603050405020304" pitchFamily="18" charset="0"/>
                <a:cs typeface="Times New Roman" panose="02020603050405020304" pitchFamily="18" charset="0"/>
              </a:rPr>
              <a:t>KPIs(Key Performance Indicator) who met more than 80%</a:t>
            </a:r>
          </a:p>
          <a:p>
            <a:pPr marL="171450" indent="-171450">
              <a:buFont typeface="Wingdings" pitchFamily="2" charset="2"/>
              <a:buChar char="Ø"/>
            </a:pPr>
            <a:r>
              <a:rPr lang="en-US" sz="1100" dirty="0">
                <a:latin typeface="Times New Roman" panose="02020603050405020304" pitchFamily="18" charset="0"/>
                <a:cs typeface="Times New Roman" panose="02020603050405020304" pitchFamily="18" charset="0"/>
              </a:rPr>
              <a:t>The rate of Employee rankings of previous year.</a:t>
            </a:r>
          </a:p>
          <a:p>
            <a:pPr marL="171450" indent="-171450">
              <a:buFont typeface="Wingdings" pitchFamily="2" charset="2"/>
              <a:buChar char="Ø"/>
            </a:pPr>
            <a:r>
              <a:rPr lang="en-US" sz="1100" dirty="0">
                <a:latin typeface="Times New Roman" panose="02020603050405020304" pitchFamily="18" charset="0"/>
                <a:cs typeface="Times New Roman" panose="02020603050405020304" pitchFamily="18" charset="0"/>
              </a:rPr>
              <a:t>Awards won by the Promoted and Not-Promoted employees.</a:t>
            </a:r>
          </a:p>
          <a:p>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1447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3A745E1F-E054-4F06-7963-CA74F5B35D2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8161" t="29191" r="1437" b="17630"/>
          <a:stretch/>
        </p:blipFill>
        <p:spPr>
          <a:xfrm>
            <a:off x="641350" y="885825"/>
            <a:ext cx="4572000" cy="2146041"/>
          </a:xfrm>
          <a:prstGeom prst="rect">
            <a:avLst/>
          </a:prstGeom>
        </p:spPr>
      </p:pic>
      <p:sp>
        <p:nvSpPr>
          <p:cNvPr id="7" name="TextBox 6">
            <a:extLst>
              <a:ext uri="{FF2B5EF4-FFF2-40B4-BE49-F238E27FC236}">
                <a16:creationId xmlns:a16="http://schemas.microsoft.com/office/drawing/2014/main" id="{058DDA0B-96C5-86C1-F165-619099DBB6F8}"/>
              </a:ext>
            </a:extLst>
          </p:cNvPr>
          <p:cNvSpPr txBox="1"/>
          <p:nvPr/>
        </p:nvSpPr>
        <p:spPr>
          <a:xfrm>
            <a:off x="336550" y="200025"/>
            <a:ext cx="5105400" cy="577081"/>
          </a:xfrm>
          <a:prstGeom prst="rect">
            <a:avLst/>
          </a:prstGeom>
          <a:noFill/>
        </p:spPr>
        <p:txBody>
          <a:bodyPr wrap="square" rtlCol="0">
            <a:spAutoFit/>
          </a:bodyPr>
          <a:lstStyle/>
          <a:p>
            <a:r>
              <a:rPr lang="en-US" sz="1050" dirty="0">
                <a:latin typeface="Times New Roman" panose="02020603050405020304" pitchFamily="18" charset="0"/>
                <a:cs typeface="Times New Roman" panose="02020603050405020304" pitchFamily="18" charset="0"/>
              </a:rPr>
              <a:t>This Bar-graph indicates the Department names and count of employees.</a:t>
            </a:r>
          </a:p>
          <a:p>
            <a:endParaRPr lang="en-US" sz="1050" dirty="0">
              <a:latin typeface="Times New Roman" panose="02020603050405020304" pitchFamily="18" charset="0"/>
              <a:cs typeface="Times New Roman" panose="02020603050405020304" pitchFamily="18" charset="0"/>
            </a:endParaRPr>
          </a:p>
          <a:p>
            <a:r>
              <a:rPr lang="en-US" sz="1050" dirty="0">
                <a:latin typeface="Times New Roman" panose="02020603050405020304" pitchFamily="18" charset="0"/>
                <a:cs typeface="Times New Roman" panose="02020603050405020304" pitchFamily="18" charset="0"/>
              </a:rPr>
              <a:t>Most of the Employees are from Sales &amp; Marketing Department </a:t>
            </a:r>
          </a:p>
        </p:txBody>
      </p:sp>
    </p:spTree>
    <p:extLst>
      <p:ext uri="{BB962C8B-B14F-4D97-AF65-F5344CB8AC3E}">
        <p14:creationId xmlns:p14="http://schemas.microsoft.com/office/powerpoint/2010/main" val="33497724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17834-BE7F-4EFE-84E3-8BF2E2FA5331}"/>
              </a:ext>
            </a:extLst>
          </p:cNvPr>
          <p:cNvSpPr>
            <a:spLocks noGrp="1"/>
          </p:cNvSpPr>
          <p:nvPr>
            <p:ph type="title"/>
          </p:nvPr>
        </p:nvSpPr>
        <p:spPr>
          <a:xfrm>
            <a:off x="458875" y="352425"/>
            <a:ext cx="4634230" cy="677108"/>
          </a:xfrm>
        </p:spPr>
        <p:txBody>
          <a:bodyPr/>
          <a:lstStyle/>
          <a:p>
            <a:r>
              <a:rPr lang="en-US" sz="1100" dirty="0">
                <a:latin typeface="Times New Roman" panose="02020603050405020304" pitchFamily="18" charset="0"/>
                <a:cs typeface="Times New Roman" panose="02020603050405020304" pitchFamily="18" charset="0"/>
              </a:rPr>
              <a:t>Distribution on effect of Department on Promotion</a:t>
            </a:r>
            <a:br>
              <a:rPr lang="en-US" sz="1100" b="0" dirty="0">
                <a:latin typeface="Times New Roman" panose="02020603050405020304" pitchFamily="18" charset="0"/>
                <a:cs typeface="Times New Roman" panose="02020603050405020304" pitchFamily="18" charset="0"/>
              </a:rPr>
            </a:br>
            <a:br>
              <a:rPr lang="en-US" sz="1100" b="0" dirty="0">
                <a:latin typeface="Times New Roman" panose="02020603050405020304" pitchFamily="18" charset="0"/>
                <a:cs typeface="Times New Roman" panose="02020603050405020304" pitchFamily="18" charset="0"/>
              </a:rPr>
            </a:br>
            <a:r>
              <a:rPr lang="en-US" sz="1100" b="0" dirty="0">
                <a:latin typeface="Times New Roman" panose="02020603050405020304" pitchFamily="18" charset="0"/>
                <a:cs typeface="Times New Roman" panose="02020603050405020304" pitchFamily="18" charset="0"/>
              </a:rPr>
              <a:t>Employees from Procurement &amp; Technology department are mostly likely are getting promoted</a:t>
            </a:r>
            <a:endParaRPr lang="en-IN" sz="1100" b="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46CFE758-9C45-4C34-856A-BCFCAB918851}"/>
              </a:ext>
            </a:extLst>
          </p:cNvPr>
          <p:cNvPicPr>
            <a:picLocks noChangeAspect="1"/>
          </p:cNvPicPr>
          <p:nvPr/>
        </p:nvPicPr>
        <p:blipFill>
          <a:blip r:embed="rId2"/>
          <a:stretch>
            <a:fillRect/>
          </a:stretch>
        </p:blipFill>
        <p:spPr>
          <a:xfrm>
            <a:off x="452525" y="1114425"/>
            <a:ext cx="4756150" cy="1916996"/>
          </a:xfrm>
          <a:prstGeom prst="rect">
            <a:avLst/>
          </a:prstGeom>
        </p:spPr>
      </p:pic>
    </p:spTree>
    <p:extLst>
      <p:ext uri="{BB962C8B-B14F-4D97-AF65-F5344CB8AC3E}">
        <p14:creationId xmlns:p14="http://schemas.microsoft.com/office/powerpoint/2010/main" val="1638975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7295553D-3706-8E1E-0B7B-0479C98D4B8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8324" t="47688" r="867" b="17630"/>
          <a:stretch/>
        </p:blipFill>
        <p:spPr>
          <a:xfrm>
            <a:off x="484822" y="1663366"/>
            <a:ext cx="4885055" cy="1495425"/>
          </a:xfrm>
          <a:prstGeom prst="rect">
            <a:avLst/>
          </a:prstGeom>
        </p:spPr>
      </p:pic>
      <p:sp>
        <p:nvSpPr>
          <p:cNvPr id="6" name="TextBox 5">
            <a:extLst>
              <a:ext uri="{FF2B5EF4-FFF2-40B4-BE49-F238E27FC236}">
                <a16:creationId xmlns:a16="http://schemas.microsoft.com/office/drawing/2014/main" id="{EA651460-700D-AF91-40A7-B2AEB1BA64E5}"/>
              </a:ext>
            </a:extLst>
          </p:cNvPr>
          <p:cNvSpPr txBox="1"/>
          <p:nvPr/>
        </p:nvSpPr>
        <p:spPr>
          <a:xfrm>
            <a:off x="1045263" y="136859"/>
            <a:ext cx="3764172"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Categories within the Employees</a:t>
            </a:r>
          </a:p>
        </p:txBody>
      </p:sp>
      <p:sp>
        <p:nvSpPr>
          <p:cNvPr id="8" name="TextBox 7">
            <a:extLst>
              <a:ext uri="{FF2B5EF4-FFF2-40B4-BE49-F238E27FC236}">
                <a16:creationId xmlns:a16="http://schemas.microsoft.com/office/drawing/2014/main" id="{4FE7CD38-389D-ADA7-8896-F77EF6BCB238}"/>
              </a:ext>
            </a:extLst>
          </p:cNvPr>
          <p:cNvSpPr txBox="1"/>
          <p:nvPr/>
        </p:nvSpPr>
        <p:spPr>
          <a:xfrm>
            <a:off x="300861" y="657225"/>
            <a:ext cx="5072222" cy="90024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For better understanding we distinguished the employees and divided into three categories:</a:t>
            </a:r>
          </a:p>
          <a:p>
            <a:endParaRPr lang="en-US" sz="1050" dirty="0">
              <a:latin typeface="Times New Roman" panose="02020603050405020304" pitchFamily="18" charset="0"/>
              <a:cs typeface="Times New Roman" panose="02020603050405020304" pitchFamily="18" charset="0"/>
            </a:endParaRPr>
          </a:p>
          <a:p>
            <a:pPr marL="171450" indent="-171450">
              <a:buFont typeface="Wingdings" pitchFamily="2" charset="2"/>
              <a:buChar char="Ø"/>
            </a:pPr>
            <a:r>
              <a:rPr lang="en-US" sz="1050" dirty="0">
                <a:latin typeface="Times New Roman" panose="02020603050405020304" pitchFamily="18" charset="0"/>
                <a:cs typeface="Times New Roman" panose="02020603050405020304" pitchFamily="18" charset="0"/>
              </a:rPr>
              <a:t>Education</a:t>
            </a:r>
          </a:p>
          <a:p>
            <a:pPr marL="171450" indent="-171450">
              <a:buFont typeface="Wingdings" pitchFamily="2" charset="2"/>
              <a:buChar char="Ø"/>
            </a:pPr>
            <a:r>
              <a:rPr lang="en-US" sz="1050" dirty="0">
                <a:latin typeface="Times New Roman" panose="02020603050405020304" pitchFamily="18" charset="0"/>
                <a:cs typeface="Times New Roman" panose="02020603050405020304" pitchFamily="18" charset="0"/>
              </a:rPr>
              <a:t>Gender</a:t>
            </a:r>
          </a:p>
          <a:p>
            <a:pPr marL="171450" indent="-171450">
              <a:buFont typeface="Wingdings" pitchFamily="2" charset="2"/>
              <a:buChar char="Ø"/>
            </a:pPr>
            <a:r>
              <a:rPr lang="en-US" sz="1050" dirty="0">
                <a:latin typeface="Times New Roman" panose="02020603050405020304" pitchFamily="18" charset="0"/>
                <a:cs typeface="Times New Roman" panose="02020603050405020304" pitchFamily="18" charset="0"/>
              </a:rPr>
              <a:t>Recruitment </a:t>
            </a:r>
          </a:p>
        </p:txBody>
      </p:sp>
    </p:spTree>
    <p:extLst>
      <p:ext uri="{BB962C8B-B14F-4D97-AF65-F5344CB8AC3E}">
        <p14:creationId xmlns:p14="http://schemas.microsoft.com/office/powerpoint/2010/main" val="27749315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B07AAB7-075B-5AAE-69C4-B747568E607B}"/>
              </a:ext>
            </a:extLst>
          </p:cNvPr>
          <p:cNvSpPr txBox="1"/>
          <p:nvPr/>
        </p:nvSpPr>
        <p:spPr>
          <a:xfrm>
            <a:off x="381428" y="352425"/>
            <a:ext cx="5091843"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Distribution of Trainings taken by employees</a:t>
            </a:r>
          </a:p>
        </p:txBody>
      </p:sp>
      <p:pic>
        <p:nvPicPr>
          <p:cNvPr id="3" name="Picture 2">
            <a:extLst>
              <a:ext uri="{FF2B5EF4-FFF2-40B4-BE49-F238E27FC236}">
                <a16:creationId xmlns:a16="http://schemas.microsoft.com/office/drawing/2014/main" id="{E40C8CAF-7393-408C-870C-E63C4D4588B4}"/>
              </a:ext>
            </a:extLst>
          </p:cNvPr>
          <p:cNvPicPr>
            <a:picLocks noChangeAspect="1"/>
          </p:cNvPicPr>
          <p:nvPr/>
        </p:nvPicPr>
        <p:blipFill>
          <a:blip r:embed="rId2"/>
          <a:stretch>
            <a:fillRect/>
          </a:stretch>
        </p:blipFill>
        <p:spPr>
          <a:xfrm>
            <a:off x="336550" y="1114425"/>
            <a:ext cx="5213350" cy="1596344"/>
          </a:xfrm>
          <a:prstGeom prst="rect">
            <a:avLst/>
          </a:prstGeom>
        </p:spPr>
      </p:pic>
    </p:spTree>
    <p:extLst>
      <p:ext uri="{BB962C8B-B14F-4D97-AF65-F5344CB8AC3E}">
        <p14:creationId xmlns:p14="http://schemas.microsoft.com/office/powerpoint/2010/main" val="2289030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D7A9A01-992E-DC7F-1B1D-F196AC5940AF}"/>
              </a:ext>
            </a:extLst>
          </p:cNvPr>
          <p:cNvSpPr txBox="1"/>
          <p:nvPr/>
        </p:nvSpPr>
        <p:spPr>
          <a:xfrm>
            <a:off x="89212" y="56297"/>
            <a:ext cx="567627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Chances of Promotion in each Department with Awards</a:t>
            </a:r>
          </a:p>
        </p:txBody>
      </p:sp>
      <p:sp>
        <p:nvSpPr>
          <p:cNvPr id="5" name="TextBox 4">
            <a:extLst>
              <a:ext uri="{FF2B5EF4-FFF2-40B4-BE49-F238E27FC236}">
                <a16:creationId xmlns:a16="http://schemas.microsoft.com/office/drawing/2014/main" id="{D7D81C5D-756B-143D-11B3-7828C597C2E0}"/>
              </a:ext>
            </a:extLst>
          </p:cNvPr>
          <p:cNvSpPr txBox="1"/>
          <p:nvPr/>
        </p:nvSpPr>
        <p:spPr>
          <a:xfrm>
            <a:off x="127208" y="526739"/>
            <a:ext cx="4724400" cy="461665"/>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Here we consider the Probability of Promotions among the employees in all departments.</a:t>
            </a:r>
          </a:p>
        </p:txBody>
      </p:sp>
      <p:pic>
        <p:nvPicPr>
          <p:cNvPr id="6" name="Picture 5">
            <a:extLst>
              <a:ext uri="{FF2B5EF4-FFF2-40B4-BE49-F238E27FC236}">
                <a16:creationId xmlns:a16="http://schemas.microsoft.com/office/drawing/2014/main" id="{180C120A-D5D7-414B-A1B6-5D6E0BF39851}"/>
              </a:ext>
            </a:extLst>
          </p:cNvPr>
          <p:cNvPicPr>
            <a:picLocks noChangeAspect="1"/>
          </p:cNvPicPr>
          <p:nvPr/>
        </p:nvPicPr>
        <p:blipFill>
          <a:blip r:embed="rId2"/>
          <a:stretch>
            <a:fillRect/>
          </a:stretch>
        </p:blipFill>
        <p:spPr>
          <a:xfrm>
            <a:off x="184150" y="1089514"/>
            <a:ext cx="3048000" cy="1777511"/>
          </a:xfrm>
          <a:prstGeom prst="rect">
            <a:avLst/>
          </a:prstGeom>
        </p:spPr>
      </p:pic>
    </p:spTree>
    <p:extLst>
      <p:ext uri="{BB962C8B-B14F-4D97-AF65-F5344CB8AC3E}">
        <p14:creationId xmlns:p14="http://schemas.microsoft.com/office/powerpoint/2010/main" val="20963585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A91DD-F5ED-4F94-BA4A-CBC641FDFF55}"/>
              </a:ext>
            </a:extLst>
          </p:cNvPr>
          <p:cNvSpPr>
            <a:spLocks noGrp="1"/>
          </p:cNvSpPr>
          <p:nvPr>
            <p:ph type="title"/>
          </p:nvPr>
        </p:nvSpPr>
        <p:spPr>
          <a:xfrm>
            <a:off x="404900" y="276225"/>
            <a:ext cx="1666875" cy="169277"/>
          </a:xfrm>
        </p:spPr>
        <p:txBody>
          <a:bodyPr/>
          <a:lstStyle/>
          <a:p>
            <a:r>
              <a:rPr lang="en-US" sz="1100" dirty="0">
                <a:latin typeface="Times New Roman" panose="02020603050405020304" pitchFamily="18" charset="0"/>
                <a:cs typeface="Times New Roman" panose="02020603050405020304" pitchFamily="18" charset="0"/>
              </a:rPr>
              <a:t>Findings : </a:t>
            </a:r>
            <a:endParaRPr lang="en-IN" sz="11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57EB377-B500-4EA0-AEB7-82CD442EFE45}"/>
              </a:ext>
            </a:extLst>
          </p:cNvPr>
          <p:cNvSpPr txBox="1"/>
          <p:nvPr/>
        </p:nvSpPr>
        <p:spPr>
          <a:xfrm>
            <a:off x="336550" y="608941"/>
            <a:ext cx="4010025" cy="230832"/>
          </a:xfrm>
          <a:prstGeom prst="rect">
            <a:avLst/>
          </a:prstGeom>
          <a:noFill/>
        </p:spPr>
        <p:txBody>
          <a:bodyPr wrap="square" rtlCol="0">
            <a:spAutoFit/>
          </a:bodyPr>
          <a:lstStyle/>
          <a:p>
            <a:pPr algn="just"/>
            <a:r>
              <a:rPr lang="en-US" sz="900" dirty="0"/>
              <a:t>Employees who done their bachelors are most likely are getting promoted</a:t>
            </a:r>
            <a:endParaRPr lang="en-IN" sz="900" dirty="0"/>
          </a:p>
        </p:txBody>
      </p:sp>
      <p:pic>
        <p:nvPicPr>
          <p:cNvPr id="13" name="Picture 12">
            <a:extLst>
              <a:ext uri="{FF2B5EF4-FFF2-40B4-BE49-F238E27FC236}">
                <a16:creationId xmlns:a16="http://schemas.microsoft.com/office/drawing/2014/main" id="{BE0C6FB3-715A-4A06-862F-5409DD35DF33}"/>
              </a:ext>
            </a:extLst>
          </p:cNvPr>
          <p:cNvPicPr>
            <a:picLocks noChangeAspect="1"/>
          </p:cNvPicPr>
          <p:nvPr/>
        </p:nvPicPr>
        <p:blipFill>
          <a:blip r:embed="rId2"/>
          <a:stretch>
            <a:fillRect/>
          </a:stretch>
        </p:blipFill>
        <p:spPr>
          <a:xfrm>
            <a:off x="370610" y="894893"/>
            <a:ext cx="4342765" cy="1676400"/>
          </a:xfrm>
          <a:prstGeom prst="rect">
            <a:avLst/>
          </a:prstGeom>
        </p:spPr>
      </p:pic>
    </p:spTree>
    <p:extLst>
      <p:ext uri="{BB962C8B-B14F-4D97-AF65-F5344CB8AC3E}">
        <p14:creationId xmlns:p14="http://schemas.microsoft.com/office/powerpoint/2010/main" val="1874957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19813-F658-46DB-B344-0CC2A426C9B4}"/>
              </a:ext>
            </a:extLst>
          </p:cNvPr>
          <p:cNvSpPr>
            <a:spLocks noGrp="1"/>
          </p:cNvSpPr>
          <p:nvPr>
            <p:ph type="title"/>
          </p:nvPr>
        </p:nvSpPr>
        <p:spPr>
          <a:xfrm>
            <a:off x="241300" y="428625"/>
            <a:ext cx="5429250" cy="200055"/>
          </a:xfrm>
        </p:spPr>
        <p:txBody>
          <a:bodyPr/>
          <a:lstStyle/>
          <a:p>
            <a:r>
              <a:rPr lang="en-US" b="0" i="0" dirty="0">
                <a:solidFill>
                  <a:srgbClr val="212121"/>
                </a:solidFill>
                <a:effectLst/>
                <a:latin typeface="+mn-lt"/>
              </a:rPr>
              <a:t>Employees with 'Very good' rating (5) are most likely to be promoted.</a:t>
            </a:r>
            <a:endParaRPr lang="en-IN" b="0" dirty="0">
              <a:latin typeface="+mn-lt"/>
              <a:cs typeface="Times New Roman" panose="02020603050405020304" pitchFamily="18" charset="0"/>
            </a:endParaRPr>
          </a:p>
        </p:txBody>
      </p:sp>
      <p:pic>
        <p:nvPicPr>
          <p:cNvPr id="5" name="Picture 4">
            <a:extLst>
              <a:ext uri="{FF2B5EF4-FFF2-40B4-BE49-F238E27FC236}">
                <a16:creationId xmlns:a16="http://schemas.microsoft.com/office/drawing/2014/main" id="{38517688-6D96-4855-9A13-5FD07A392D4A}"/>
              </a:ext>
            </a:extLst>
          </p:cNvPr>
          <p:cNvPicPr>
            <a:picLocks noChangeAspect="1"/>
          </p:cNvPicPr>
          <p:nvPr/>
        </p:nvPicPr>
        <p:blipFill>
          <a:blip r:embed="rId2"/>
          <a:stretch>
            <a:fillRect/>
          </a:stretch>
        </p:blipFill>
        <p:spPr>
          <a:xfrm>
            <a:off x="241300" y="733425"/>
            <a:ext cx="4419600" cy="2006518"/>
          </a:xfrm>
          <a:prstGeom prst="rect">
            <a:avLst/>
          </a:prstGeom>
        </p:spPr>
      </p:pic>
    </p:spTree>
    <p:extLst>
      <p:ext uri="{BB962C8B-B14F-4D97-AF65-F5344CB8AC3E}">
        <p14:creationId xmlns:p14="http://schemas.microsoft.com/office/powerpoint/2010/main" val="657327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7B2AD-36B7-4F2F-9F34-86FD37A72A85}"/>
              </a:ext>
            </a:extLst>
          </p:cNvPr>
          <p:cNvSpPr>
            <a:spLocks noGrp="1"/>
          </p:cNvSpPr>
          <p:nvPr>
            <p:ph type="title"/>
          </p:nvPr>
        </p:nvSpPr>
        <p:spPr>
          <a:xfrm>
            <a:off x="488950" y="428625"/>
            <a:ext cx="4953000" cy="200055"/>
          </a:xfrm>
        </p:spPr>
        <p:txBody>
          <a:bodyPr/>
          <a:lstStyle/>
          <a:p>
            <a:r>
              <a:rPr lang="en-US" b="0" i="0" dirty="0">
                <a:solidFill>
                  <a:srgbClr val="212121"/>
                </a:solidFill>
                <a:effectLst/>
                <a:latin typeface="Times New Roman" panose="02020603050405020304" pitchFamily="18" charset="0"/>
                <a:cs typeface="Times New Roman" panose="02020603050405020304" pitchFamily="18" charset="0"/>
              </a:rPr>
              <a:t>An employee aged between 25 and 40 years </a:t>
            </a:r>
            <a:r>
              <a:rPr lang="en-US" b="0" dirty="0">
                <a:solidFill>
                  <a:srgbClr val="212121"/>
                </a:solidFill>
                <a:latin typeface="Times New Roman" panose="02020603050405020304" pitchFamily="18" charset="0"/>
                <a:cs typeface="Times New Roman" panose="02020603050405020304" pitchFamily="18" charset="0"/>
              </a:rPr>
              <a:t>are</a:t>
            </a:r>
            <a:r>
              <a:rPr lang="en-US" b="0" i="0" dirty="0">
                <a:solidFill>
                  <a:srgbClr val="212121"/>
                </a:solidFill>
                <a:effectLst/>
                <a:latin typeface="Times New Roman" panose="02020603050405020304" pitchFamily="18" charset="0"/>
                <a:cs typeface="Times New Roman" panose="02020603050405020304" pitchFamily="18" charset="0"/>
              </a:rPr>
              <a:t> likely to be promoted</a:t>
            </a:r>
            <a:endParaRPr lang="en-IN" b="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79CFC93-6309-4F95-92E2-BFE569A16FA3}"/>
              </a:ext>
            </a:extLst>
          </p:cNvPr>
          <p:cNvPicPr>
            <a:picLocks noChangeAspect="1"/>
          </p:cNvPicPr>
          <p:nvPr/>
        </p:nvPicPr>
        <p:blipFill>
          <a:blip r:embed="rId2"/>
          <a:stretch>
            <a:fillRect/>
          </a:stretch>
        </p:blipFill>
        <p:spPr>
          <a:xfrm>
            <a:off x="488950" y="885825"/>
            <a:ext cx="3504922" cy="1905000"/>
          </a:xfrm>
          <a:prstGeom prst="rect">
            <a:avLst/>
          </a:prstGeom>
        </p:spPr>
      </p:pic>
    </p:spTree>
    <p:extLst>
      <p:ext uri="{BB962C8B-B14F-4D97-AF65-F5344CB8AC3E}">
        <p14:creationId xmlns:p14="http://schemas.microsoft.com/office/powerpoint/2010/main" val="33826211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C36D0-443E-414A-B698-9C53DA12A431}"/>
              </a:ext>
            </a:extLst>
          </p:cNvPr>
          <p:cNvSpPr>
            <a:spLocks noGrp="1"/>
          </p:cNvSpPr>
          <p:nvPr>
            <p:ph type="title"/>
          </p:nvPr>
        </p:nvSpPr>
        <p:spPr>
          <a:xfrm>
            <a:off x="312420" y="276225"/>
            <a:ext cx="1666875" cy="215444"/>
          </a:xfrm>
        </p:spPr>
        <p:txBody>
          <a:bodyPr/>
          <a:lstStyle/>
          <a:p>
            <a:r>
              <a:rPr lang="en-US" sz="1400" dirty="0">
                <a:latin typeface="Times New Roman" panose="02020603050405020304" pitchFamily="18" charset="0"/>
                <a:cs typeface="Times New Roman" panose="02020603050405020304" pitchFamily="18" charset="0"/>
              </a:rPr>
              <a:t>Output 1:</a:t>
            </a:r>
            <a:endParaRPr lang="en-IN" sz="14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C0984A12-7EC8-4FFC-9B8E-3AB8D37811E6}"/>
              </a:ext>
            </a:extLst>
          </p:cNvPr>
          <p:cNvPicPr>
            <a:picLocks noChangeAspect="1"/>
          </p:cNvPicPr>
          <p:nvPr/>
        </p:nvPicPr>
        <p:blipFill>
          <a:blip r:embed="rId2"/>
          <a:stretch>
            <a:fillRect/>
          </a:stretch>
        </p:blipFill>
        <p:spPr>
          <a:xfrm>
            <a:off x="336550" y="657225"/>
            <a:ext cx="4603750" cy="2428096"/>
          </a:xfrm>
          <a:prstGeom prst="rect">
            <a:avLst/>
          </a:prstGeom>
        </p:spPr>
      </p:pic>
    </p:spTree>
    <p:extLst>
      <p:ext uri="{BB962C8B-B14F-4D97-AF65-F5344CB8AC3E}">
        <p14:creationId xmlns:p14="http://schemas.microsoft.com/office/powerpoint/2010/main" val="708765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0F50D-CD15-442C-8A42-9D28DA7A0B30}"/>
              </a:ext>
            </a:extLst>
          </p:cNvPr>
          <p:cNvSpPr>
            <a:spLocks noGrp="1"/>
          </p:cNvSpPr>
          <p:nvPr>
            <p:ph type="title"/>
          </p:nvPr>
        </p:nvSpPr>
        <p:spPr>
          <a:xfrm>
            <a:off x="412750" y="352425"/>
            <a:ext cx="1666875" cy="200055"/>
          </a:xfrm>
        </p:spPr>
        <p:txBody>
          <a:bodyPr/>
          <a:lstStyle/>
          <a:p>
            <a:r>
              <a:rPr lang="en-US" dirty="0">
                <a:latin typeface="+mn-lt"/>
              </a:rPr>
              <a:t>Output 2:</a:t>
            </a:r>
            <a:endParaRPr lang="en-IN" dirty="0">
              <a:latin typeface="+mn-lt"/>
            </a:endParaRPr>
          </a:p>
        </p:txBody>
      </p:sp>
      <p:pic>
        <p:nvPicPr>
          <p:cNvPr id="5" name="Picture 4">
            <a:extLst>
              <a:ext uri="{FF2B5EF4-FFF2-40B4-BE49-F238E27FC236}">
                <a16:creationId xmlns:a16="http://schemas.microsoft.com/office/drawing/2014/main" id="{2AF8C9C6-65F3-4933-B471-440D33A05660}"/>
              </a:ext>
            </a:extLst>
          </p:cNvPr>
          <p:cNvPicPr>
            <a:picLocks noChangeAspect="1"/>
          </p:cNvPicPr>
          <p:nvPr/>
        </p:nvPicPr>
        <p:blipFill>
          <a:blip r:embed="rId2"/>
          <a:stretch>
            <a:fillRect/>
          </a:stretch>
        </p:blipFill>
        <p:spPr>
          <a:xfrm>
            <a:off x="336550" y="885824"/>
            <a:ext cx="4267200" cy="2232715"/>
          </a:xfrm>
          <a:prstGeom prst="rect">
            <a:avLst/>
          </a:prstGeom>
        </p:spPr>
      </p:pic>
    </p:spTree>
    <p:extLst>
      <p:ext uri="{BB962C8B-B14F-4D97-AF65-F5344CB8AC3E}">
        <p14:creationId xmlns:p14="http://schemas.microsoft.com/office/powerpoint/2010/main" val="3749769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AA303-FA03-404E-9A35-0B485E031948}"/>
              </a:ext>
            </a:extLst>
          </p:cNvPr>
          <p:cNvSpPr>
            <a:spLocks noGrp="1"/>
          </p:cNvSpPr>
          <p:nvPr>
            <p:ph type="title"/>
          </p:nvPr>
        </p:nvSpPr>
        <p:spPr>
          <a:xfrm>
            <a:off x="439243" y="352425"/>
            <a:ext cx="1666875" cy="200055"/>
          </a:xfrm>
        </p:spPr>
        <p:txBody>
          <a:bodyPr/>
          <a:lstStyle/>
          <a:p>
            <a:r>
              <a:rPr lang="en-US" dirty="0">
                <a:latin typeface="+mn-lt"/>
              </a:rPr>
              <a:t>Conclusion:</a:t>
            </a:r>
            <a:endParaRPr lang="en-IN" dirty="0">
              <a:latin typeface="+mn-lt"/>
            </a:endParaRPr>
          </a:p>
        </p:txBody>
      </p:sp>
      <p:sp>
        <p:nvSpPr>
          <p:cNvPr id="3" name="Text Placeholder 2">
            <a:extLst>
              <a:ext uri="{FF2B5EF4-FFF2-40B4-BE49-F238E27FC236}">
                <a16:creationId xmlns:a16="http://schemas.microsoft.com/office/drawing/2014/main" id="{FEF20A55-A971-4487-B326-A48F43D3874A}"/>
              </a:ext>
            </a:extLst>
          </p:cNvPr>
          <p:cNvSpPr>
            <a:spLocks noGrp="1"/>
          </p:cNvSpPr>
          <p:nvPr>
            <p:ph type="body" idx="1"/>
          </p:nvPr>
        </p:nvSpPr>
        <p:spPr>
          <a:xfrm>
            <a:off x="336550" y="809625"/>
            <a:ext cx="5009232" cy="2200602"/>
          </a:xfrm>
        </p:spPr>
        <p:txBody>
          <a:bodyPr/>
          <a:lstStyle/>
          <a:p>
            <a:pPr algn="just"/>
            <a:r>
              <a:rPr lang="en-US" sz="1100" dirty="0">
                <a:effectLst/>
                <a:latin typeface="Calibri" panose="020F0502020204030204" pitchFamily="34" charset="0"/>
                <a:ea typeface="Calibri" panose="020F0502020204030204" pitchFamily="34" charset="0"/>
                <a:cs typeface="Times New Roman" panose="02020603050405020304" pitchFamily="18" charset="0"/>
              </a:rPr>
              <a:t>The goal of this project was to create a supervised machine learning classification model for promotion determination. information was utilized to forecast which employees were eligible for promotion. Knowing which staff are qualified for advancement is critical for any firm. Furthermore, the larger the organization, the more time and work it takes to manually identify people qualified for advancement. As a result, developing a model that identifies prospects for potential advancement is quite beneficial. The following prediction models was created is ‘The Decision Tree’. The findings show that there was no bias and that the features of the recruitment channel and department did not play important roles in promotion. The algorithms were able to perform well despite the relatively minimal data. More data would result in better-optimized solutions. Thus, machine learning model can reduce the amount of time spent on decision making, enhancing productivity.</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100" dirty="0"/>
          </a:p>
        </p:txBody>
      </p:sp>
    </p:spTree>
    <p:extLst>
      <p:ext uri="{BB962C8B-B14F-4D97-AF65-F5344CB8AC3E}">
        <p14:creationId xmlns:p14="http://schemas.microsoft.com/office/powerpoint/2010/main" val="1939474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512" y="8"/>
            <a:ext cx="5845810" cy="3288029"/>
          </a:xfrm>
          <a:custGeom>
            <a:avLst/>
            <a:gdLst/>
            <a:ahLst/>
            <a:cxnLst/>
            <a:rect l="l" t="t" r="r" b="b"/>
            <a:pathLst>
              <a:path w="5845810" h="3288029">
                <a:moveTo>
                  <a:pt x="0" y="3287938"/>
                </a:moveTo>
                <a:lnTo>
                  <a:pt x="5845240" y="3287938"/>
                </a:lnTo>
                <a:lnTo>
                  <a:pt x="5845240" y="0"/>
                </a:lnTo>
                <a:lnTo>
                  <a:pt x="0" y="0"/>
                </a:lnTo>
                <a:lnTo>
                  <a:pt x="0" y="3287938"/>
                </a:lnTo>
                <a:close/>
              </a:path>
            </a:pathLst>
          </a:custGeom>
          <a:solidFill>
            <a:srgbClr val="000000"/>
          </a:solidFill>
        </p:spPr>
        <p:txBody>
          <a:bodyPr wrap="square" lIns="0" tIns="0" rIns="0" bIns="0" rtlCol="0"/>
          <a:lstStyle/>
          <a:p>
            <a:endParaRPr dirty="0"/>
          </a:p>
        </p:txBody>
      </p:sp>
      <p:sp>
        <p:nvSpPr>
          <p:cNvPr id="6" name="object 6"/>
          <p:cNvSpPr txBox="1">
            <a:spLocks noGrp="1"/>
          </p:cNvSpPr>
          <p:nvPr>
            <p:ph type="title"/>
          </p:nvPr>
        </p:nvSpPr>
        <p:spPr>
          <a:xfrm>
            <a:off x="1174750" y="1220188"/>
            <a:ext cx="3352800" cy="847668"/>
          </a:xfrm>
          <a:prstGeom prst="rect">
            <a:avLst/>
          </a:prstGeom>
        </p:spPr>
        <p:txBody>
          <a:bodyPr vert="horz" wrap="square" lIns="0" tIns="16510" rIns="0" bIns="0" rtlCol="0">
            <a:spAutoFit/>
          </a:bodyPr>
          <a:lstStyle/>
          <a:p>
            <a:pPr marL="12700">
              <a:lnSpc>
                <a:spcPct val="100000"/>
              </a:lnSpc>
              <a:spcBef>
                <a:spcPts val="130"/>
              </a:spcBef>
            </a:pPr>
            <a:r>
              <a:rPr sz="5400" spc="125" dirty="0">
                <a:solidFill>
                  <a:srgbClr val="FFFFFF"/>
                </a:solidFill>
                <a:latin typeface="Times New Roman" panose="02020603050405020304" pitchFamily="18" charset="0"/>
                <a:cs typeface="Times New Roman" panose="02020603050405020304" pitchFamily="18" charset="0"/>
              </a:rPr>
              <a:t>T</a:t>
            </a:r>
            <a:r>
              <a:rPr sz="5400" spc="-25" dirty="0">
                <a:solidFill>
                  <a:srgbClr val="FFFFFF"/>
                </a:solidFill>
                <a:latin typeface="Times New Roman" panose="02020603050405020304" pitchFamily="18" charset="0"/>
                <a:cs typeface="Times New Roman" panose="02020603050405020304" pitchFamily="18" charset="0"/>
              </a:rPr>
              <a:t>hank</a:t>
            </a:r>
            <a:r>
              <a:rPr lang="en-US" sz="5400" spc="-25" dirty="0">
                <a:solidFill>
                  <a:srgbClr val="FFFFFF"/>
                </a:solidFill>
                <a:latin typeface="Times New Roman" panose="02020603050405020304" pitchFamily="18" charset="0"/>
                <a:cs typeface="Times New Roman" panose="02020603050405020304" pitchFamily="18" charset="0"/>
              </a:rPr>
              <a:t> You</a:t>
            </a:r>
            <a:endParaRPr sz="54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2463</TotalTime>
  <Words>505</Words>
  <Application>Microsoft Office PowerPoint</Application>
  <PresentationFormat>Custom</PresentationFormat>
  <Paragraphs>54</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Calibri</vt:lpstr>
      <vt:lpstr>Cambria</vt:lpstr>
      <vt:lpstr>Times New Roman</vt:lpstr>
      <vt:lpstr>Trebuchet MS</vt:lpstr>
      <vt:lpstr>Verdana</vt:lpstr>
      <vt:lpstr>Wingdings</vt:lpstr>
      <vt:lpstr>Office Theme</vt:lpstr>
      <vt:lpstr>PowerPoint Presentation</vt:lpstr>
      <vt:lpstr>Abstract</vt:lpstr>
      <vt:lpstr>PowerPoint Presentation</vt:lpstr>
      <vt:lpstr>PowerPoint Presentation</vt:lpstr>
      <vt:lpstr>PowerPoint Presentation</vt:lpstr>
      <vt:lpstr>PowerPoint Presentation</vt:lpstr>
      <vt:lpstr>PowerPoint Presentation</vt:lpstr>
      <vt:lpstr>Distribution on effect of Department on Promotion  Employees from Procurement &amp; Technology department are mostly likely are getting promoted</vt:lpstr>
      <vt:lpstr>PowerPoint Presentation</vt:lpstr>
      <vt:lpstr>PowerPoint Presentation</vt:lpstr>
      <vt:lpstr>PowerPoint Presentation</vt:lpstr>
      <vt:lpstr>Findings : </vt:lpstr>
      <vt:lpstr>Employees with 'Very good' rating (5) are most likely to be promoted.</vt:lpstr>
      <vt:lpstr>An employee aged between 25 and 40 years are likely to be promoted</vt:lpstr>
      <vt:lpstr>Output 1:</vt:lpstr>
      <vt:lpstr>Output 2:</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Neela, Mrs. Bhuvaneswari</cp:lastModifiedBy>
  <cp:revision>51</cp:revision>
  <dcterms:created xsi:type="dcterms:W3CDTF">2023-12-17T19:15:37Z</dcterms:created>
  <dcterms:modified xsi:type="dcterms:W3CDTF">2023-12-20T03:26:09Z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2023-12-17T00:00:00Z</vt:filetime>
  </property>
  <property fmtid="{D5CDD505-2E9C-101B-9397-08002B2CF9AE}" pid="3" name="LastSaved">
    <vt:filetime>2023-12-17T00:00:00Z</vt:filetime>
  </property>
</Properties>
</file>